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600000"/>
            <a:ext cx="10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53D73"/>
                </a:solidFill>
                <a:latin typeface="BIZ UDPGothic"/>
              </a:rPr>
              <a:t>AIトランスフォーメーションの設計図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2800000"/>
            <a:ext cx="10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A2F3A"/>
                </a:solidFill>
                <a:latin typeface="BIZ UDPGothic"/>
              </a:rPr>
              <a:t>生成AIの系譜・現在地・5年後の3つの道筋と企業導入フェーズ</a:t>
            </a:r>
          </a:p>
          <a:p>
            <a:r>
              <a:rPr sz="2200" b="0">
                <a:solidFill>
                  <a:srgbClr val="2A2F3A"/>
                </a:solidFill>
                <a:latin typeface="BIZ UDPGothic"/>
              </a:rPr>
              <a:t>各章の要点スライドと、経営会議に出す1枚の型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5200000"/>
            <a:ext cx="10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86C75"/>
                </a:solidFill>
                <a:latin typeface="BIZ UDPGothic"/>
              </a:rPr>
              <a:t>本: https://zenn.dev/takenori_kusaka/books/ai-transformation-blueprint</a:t>
            </a:r>
          </a:p>
          <a:p>
            <a:r>
              <a:rPr sz="1400" b="0">
                <a:solidFill>
                  <a:srgbClr val="686C75"/>
                </a:solidFill>
                <a:latin typeface="BIZ UDPGothic"/>
              </a:rPr>
              <a:t>診断アプリ: https://takenori-kusaka.github.io/ax-compass/</a:t>
            </a:r>
          </a:p>
          <a:p>
            <a:r>
              <a:rPr sz="1400" b="0">
                <a:solidFill>
                  <a:srgbClr val="686C75"/>
                </a:solidFill>
                <a:latin typeface="BIZ UDPGothic"/>
              </a:rPr>
              <a:t>生成AIを使って作成し、著者が内容を確認して公開しています。数値は2026年10月27日時点。出典は本の各章と付録B。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第0章：一枚の設計図</a:t>
            </a:r>
          </a:p>
        </p:txBody>
      </p:sp>
      <p:pic>
        <p:nvPicPr>
          <p:cNvPr id="3" name="Picture 2" descr="overview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500" y="850000"/>
            <a:ext cx="630900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https://zenn.dev/takenori_kusaka/books/ai-transformation-blueprint/viewer/overview-map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第1章　基盤の成立</a:t>
            </a:r>
          </a:p>
        </p:txBody>
      </p:sp>
      <p:pic>
        <p:nvPicPr>
          <p:cNvPr id="3" name="Picture 2" descr="01-foundations-2017-2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924" y="850000"/>
            <a:ext cx="6786151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https://zenn.dev/takenori_kusaka/books/ai-transformation-blueprint/viewer/01-foundations-2017-2020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第2章　転換点</a:t>
            </a:r>
          </a:p>
        </p:txBody>
      </p:sp>
      <p:pic>
        <p:nvPicPr>
          <p:cNvPr id="3" name="Picture 2" descr="02-chatgpt-moment-2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440" y="850000"/>
            <a:ext cx="724912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https://zenn.dev/takenori_kusaka/books/ai-transformation-blueprint/viewer/02-chatgpt-moment-2022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第3章　競争の構造化</a:t>
            </a:r>
          </a:p>
        </p:txBody>
      </p:sp>
      <p:pic>
        <p:nvPicPr>
          <p:cNvPr id="3" name="Picture 2" descr="03-competition-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538" y="850000"/>
            <a:ext cx="7764923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https://zenn.dev/takenori_kusaka/books/ai-transformation-blueprint/viewer/03-competition-2023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第4章　推論モデルと価格の崩落</a:t>
            </a:r>
          </a:p>
        </p:txBody>
      </p:sp>
      <p:pic>
        <p:nvPicPr>
          <p:cNvPr id="3" name="Picture 2" descr="04-reasoning-and-cost-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924" y="850000"/>
            <a:ext cx="6786151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https://zenn.dev/takenori_kusaka/books/ai-transformation-blueprint/viewer/04-reasoning-and-cost-2024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第5章　エージェントの年</a:t>
            </a:r>
          </a:p>
        </p:txBody>
      </p:sp>
      <p:pic>
        <p:nvPicPr>
          <p:cNvPr id="3" name="Picture 2" descr="05-year-of-agents-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500" y="850000"/>
            <a:ext cx="630900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https://zenn.dev/takenori_kusaka/books/ai-transformation-blueprint/viewer/05-year-of-agents-2025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第6章　2026年の到達点</a:t>
            </a:r>
          </a:p>
        </p:txBody>
      </p:sp>
      <p:pic>
        <p:nvPicPr>
          <p:cNvPr id="3" name="Picture 2" descr="06-state-of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742" y="850000"/>
            <a:ext cx="6512516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https://zenn.dev/takenori_kusaka/books/ai-transformation-blueprint/viewer/06-state-of-2026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第7章　能力の計測</a:t>
            </a:r>
          </a:p>
        </p:txBody>
      </p:sp>
      <p:pic>
        <p:nvPicPr>
          <p:cNvPr id="3" name="Picture 2" descr="07-measuring-cap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857" y="850000"/>
            <a:ext cx="7210285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https://zenn.dev/takenori_kusaka/books/ai-transformation-blueprint/viewer/07-measuring-capability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第8章　計算資源・資本・電力</a:t>
            </a:r>
          </a:p>
        </p:txBody>
      </p:sp>
      <p:pic>
        <p:nvPicPr>
          <p:cNvPr id="3" name="Picture 2" descr="08-compute-capital-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617" y="850000"/>
            <a:ext cx="6774765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https://zenn.dev/takenori_kusaka/books/ai-transformation-blueprint/viewer/08-compute-capital-energy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第9章　日本の技術史</a:t>
            </a:r>
          </a:p>
        </p:txBody>
      </p:sp>
      <p:pic>
        <p:nvPicPr>
          <p:cNvPr id="3" name="Picture 2" descr="09-japan-model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200" y="850000"/>
            <a:ext cx="672960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https://zenn.dev/takenori_kusaka/books/ai-transformation-blueprint/viewer/09-japan-model-history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第10章　先例</a:t>
            </a:r>
          </a:p>
        </p:txBody>
      </p:sp>
      <p:pic>
        <p:nvPicPr>
          <p:cNvPr id="3" name="Picture 2" descr="10-precedents-electricity-pc-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200" y="850000"/>
            <a:ext cx="672960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https://zenn.dev/takenori_kusaka/books/ai-transformation-blueprint/viewer/10-precedents-electricity-pc-cloud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第11章　個人の利用</a:t>
            </a:r>
          </a:p>
        </p:txBody>
      </p:sp>
      <p:pic>
        <p:nvPicPr>
          <p:cNvPr id="3" name="Picture 2" descr="11-individual-ad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240" y="850000"/>
            <a:ext cx="807552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https://zenn.dev/takenori_kusaka/books/ai-transformation-blueprint/viewer/11-individual-adoption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第12章　企業の利用</a:t>
            </a:r>
          </a:p>
        </p:txBody>
      </p:sp>
      <p:pic>
        <p:nvPicPr>
          <p:cNvPr id="3" name="Picture 2" descr="12-enterprise-ad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200" y="850000"/>
            <a:ext cx="672960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https://zenn.dev/takenori_kusaka/books/ai-transformation-blueprint/viewer/12-enterprise-adoption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第13章　生産性の実証</a:t>
            </a:r>
          </a:p>
        </p:txBody>
      </p:sp>
      <p:pic>
        <p:nvPicPr>
          <p:cNvPr id="3" name="Picture 2" descr="13-productivity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200" y="850000"/>
            <a:ext cx="672960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https://zenn.dev/takenori_kusaka/books/ai-transformation-blueprint/viewer/13-productivity-evidence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第14章　雇用の実証</a:t>
            </a:r>
          </a:p>
        </p:txBody>
      </p:sp>
      <p:pic>
        <p:nvPicPr>
          <p:cNvPr id="3" name="Picture 2" descr="14-labor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857" y="850000"/>
            <a:ext cx="7210285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https://zenn.dev/takenori_kusaka/books/ai-transformation-blueprint/viewer/14-labor-evidence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第15章　投資対効果と失敗率</a:t>
            </a:r>
          </a:p>
        </p:txBody>
      </p:sp>
      <p:pic>
        <p:nvPicPr>
          <p:cNvPr id="3" name="Picture 2" descr="15-roi-and-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924" y="850000"/>
            <a:ext cx="6786151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https://zenn.dev/takenori_kusaka/books/ai-transformation-blueprint/viewer/15-roi-and-failure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第16章　AIエージェントの現在地</a:t>
            </a:r>
          </a:p>
        </p:txBody>
      </p:sp>
      <p:pic>
        <p:nvPicPr>
          <p:cNvPr id="3" name="Picture 2" descr="16-agents-to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792" y="850000"/>
            <a:ext cx="6460415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https://zenn.dev/takenori_kusaka/books/ai-transformation-blueprint/viewer/16-agents-today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第17章　統治と規制</a:t>
            </a:r>
          </a:p>
        </p:txBody>
      </p:sp>
      <p:pic>
        <p:nvPicPr>
          <p:cNvPr id="3" name="Picture 2" descr="17-governance-re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200" y="850000"/>
            <a:ext cx="672960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https://zenn.dev/takenori_kusaka/books/ai-transformation-blueprint/viewer/17-governance-regulation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第18章　市場の地図</a:t>
            </a:r>
          </a:p>
        </p:txBody>
      </p:sp>
      <p:pic>
        <p:nvPicPr>
          <p:cNvPr id="3" name="Picture 2" descr="18-market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500" y="850000"/>
            <a:ext cx="630900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https://zenn.dev/takenori_kusaka/books/ai-transformation-blueprint/viewer/18-market-map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第19章　日本の条件</a:t>
            </a:r>
          </a:p>
        </p:txBody>
      </p:sp>
      <p:pic>
        <p:nvPicPr>
          <p:cNvPr id="3" name="Picture 2" descr="19-japan-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644" y="850000"/>
            <a:ext cx="6338712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https://zenn.dev/takenori_kusaka/books/ai-transformation-blueprint/viewer/19-japan-conditions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第20章　普及の理論</a:t>
            </a:r>
          </a:p>
        </p:txBody>
      </p:sp>
      <p:pic>
        <p:nvPicPr>
          <p:cNvPr id="3" name="Picture 2" descr="20-diffusion-the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742" y="850000"/>
            <a:ext cx="6512516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https://zenn.dev/takenori_kusaka/books/ai-transformation-blueprint/viewer/20-diffusion-theory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第21章　汎用技術と生産性Jカーブ</a:t>
            </a:r>
          </a:p>
        </p:txBody>
      </p:sp>
      <p:pic>
        <p:nvPicPr>
          <p:cNvPr id="3" name="Picture 2" descr="21-gpt-and-j-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857" y="850000"/>
            <a:ext cx="7210285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https://zenn.dev/takenori_kusaka/books/ai-transformation-blueprint/viewer/21-gpt-and-j-curve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第22章　組織の内部化</a:t>
            </a:r>
          </a:p>
        </p:txBody>
      </p:sp>
      <p:pic>
        <p:nvPicPr>
          <p:cNvPr id="3" name="Picture 2" descr="22-organizational-intern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623" y="850000"/>
            <a:ext cx="7354754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https://zenn.dev/takenori_kusaka/books/ai-transformation-blueprint/viewer/22-organizational-internalization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第23章　現在地を測る道具</a:t>
            </a:r>
          </a:p>
        </p:txBody>
      </p:sp>
      <p:pic>
        <p:nvPicPr>
          <p:cNvPr id="3" name="Picture 2" descr="23-maturity-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37" y="850000"/>
            <a:ext cx="8240326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https://zenn.dev/takenori_kusaka/books/ai-transformation-blueprint/viewer/23-maturity-models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第24章　予測の方法</a:t>
            </a:r>
          </a:p>
        </p:txBody>
      </p:sp>
      <p:pic>
        <p:nvPicPr>
          <p:cNvPr id="3" name="Picture 2" descr="24-forecast-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538" y="850000"/>
            <a:ext cx="7764923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https://zenn.dev/takenori_kusaka/books/ai-transformation-blueprint/viewer/24-forecast-method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第25章　言説の分類</a:t>
            </a:r>
          </a:p>
        </p:txBody>
      </p:sp>
      <p:pic>
        <p:nvPicPr>
          <p:cNvPr id="3" name="Picture 2" descr="25-discourse-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444" y="850000"/>
            <a:ext cx="6231111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https://zenn.dev/takenori_kusaka/books/ai-transformation-blueprint/viewer/25-discourse-taxonomy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第26章　道筋A：加速</a:t>
            </a:r>
          </a:p>
        </p:txBody>
      </p:sp>
      <p:pic>
        <p:nvPicPr>
          <p:cNvPr id="3" name="Picture 2" descr="26-path-a-accel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200" y="850000"/>
            <a:ext cx="672960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https://zenn.dev/takenori_kusaka/books/ai-transformation-blueprint/viewer/26-path-a-acceleration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第27章　道筋B：漸進</a:t>
            </a:r>
          </a:p>
        </p:txBody>
      </p:sp>
      <p:pic>
        <p:nvPicPr>
          <p:cNvPr id="3" name="Picture 2" descr="27-path-b-gra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72" y="850000"/>
            <a:ext cx="6961655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https://zenn.dev/takenori_kusaka/books/ai-transformation-blueprint/viewer/27-path-b-gradual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第28章　道筋C：調整</a:t>
            </a:r>
          </a:p>
        </p:txBody>
      </p:sp>
      <p:pic>
        <p:nvPicPr>
          <p:cNvPr id="3" name="Picture 2" descr="28-path-c-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730" y="850000"/>
            <a:ext cx="682054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https://zenn.dev/takenori_kusaka/books/ai-transformation-blueprint/viewer/28-path-c-correction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第29章　3つの道筋の比較</a:t>
            </a:r>
          </a:p>
        </p:txBody>
      </p:sp>
      <p:pic>
        <p:nvPicPr>
          <p:cNvPr id="3" name="Picture 2" descr="29-paths-comparison-indic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439" y="850000"/>
            <a:ext cx="6155121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https://zenn.dev/takenori_kusaka/books/ai-transformation-blueprint/viewer/29-paths-comparison-indicators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第30章　生成AIはどう導入されてきたか</a:t>
            </a:r>
          </a:p>
        </p:txBody>
      </p:sp>
      <p:pic>
        <p:nvPicPr>
          <p:cNvPr id="3" name="Picture 2" descr="30-genai-adoption-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245" y="850000"/>
            <a:ext cx="622151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https://zenn.dev/takenori_kusaka/books/ai-transformation-blueprint/viewer/30-genai-adoption-stages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第31章　AIエージェントはどう導入されるか</a:t>
            </a:r>
          </a:p>
        </p:txBody>
      </p:sp>
      <p:pic>
        <p:nvPicPr>
          <p:cNvPr id="3" name="Picture 2" descr="31-agent-adoption-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500" y="850000"/>
            <a:ext cx="630900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https://zenn.dev/takenori_kusaka/books/ai-transformation-blueprint/viewer/31-agent-adoption-stages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第32章　3つの現在地</a:t>
            </a:r>
          </a:p>
        </p:txBody>
      </p:sp>
      <p:pic>
        <p:nvPicPr>
          <p:cNvPr id="3" name="Picture 2" descr="32-three-po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880" y="850000"/>
            <a:ext cx="7096239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https://zenn.dev/takenori_kusaka/books/ai-transformation-blueprint/viewer/32-three-positions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第33章　運営モデルの進化</a:t>
            </a:r>
          </a:p>
        </p:txBody>
      </p:sp>
      <p:pic>
        <p:nvPicPr>
          <p:cNvPr id="3" name="Picture 2" descr="33-operating-model-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904" y="850000"/>
            <a:ext cx="7022191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https://zenn.dev/takenori_kusaka/books/ai-transformation-blueprint/viewer/33-operating-model-evolution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第34章　各段階で必要なもの</a:t>
            </a:r>
          </a:p>
        </p:txBody>
      </p:sp>
      <p:pic>
        <p:nvPicPr>
          <p:cNvPr id="3" name="Picture 2" descr="34-requirements-and-prov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986" y="850000"/>
            <a:ext cx="6502028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https://zenn.dev/takenori_kusaka/books/ai-transformation-blueprint/viewer/34-requirements-and-providers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第35章　道筋別の戦略</a:t>
            </a:r>
          </a:p>
        </p:txBody>
      </p:sp>
      <p:pic>
        <p:nvPicPr>
          <p:cNvPr id="3" name="Picture 2" descr="35-strategy-by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880" y="850000"/>
            <a:ext cx="7096239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https://zenn.dev/takenori_kusaka/books/ai-transformation-blueprint/viewer/35-strategy-by-path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第36章　文化の形成</a:t>
            </a:r>
          </a:p>
        </p:txBody>
      </p:sp>
      <p:pic>
        <p:nvPicPr>
          <p:cNvPr id="3" name="Picture 2" descr="36-culture-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1" y="850000"/>
            <a:ext cx="6523037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https://zenn.dev/takenori_kusaka/books/ai-transformation-blueprint/viewer/36-culture-formation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第37章　AXプロジェクトの立ち上げ</a:t>
            </a:r>
          </a:p>
        </p:txBody>
      </p:sp>
      <p:pic>
        <p:nvPicPr>
          <p:cNvPr id="3" name="Picture 2" descr="37-launching-ax-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857" y="850000"/>
            <a:ext cx="7210285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https://zenn.dev/takenori_kusaka/books/ai-transformation-blueprint/viewer/37-launching-ax-project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20000"/>
            <a:ext cx="11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86C75"/>
                </a:solidFill>
                <a:latin typeface="BIZ UDPGothic"/>
              </a:rPr>
              <a:t>第38章　会議資料と90日計画</a:t>
            </a:r>
          </a:p>
        </p:txBody>
      </p:sp>
      <p:pic>
        <p:nvPicPr>
          <p:cNvPr id="3" name="Picture 2" descr="38-meeting-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500" y="850000"/>
            <a:ext cx="6309000" cy="5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6438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86C75"/>
                </a:solidFill>
                <a:latin typeface="BIZ UDPGothic"/>
              </a:rPr>
              <a:t>出典と詳細: https://zenn.dev/takenori_kusaka/books/ai-transformation-blueprint/viewer/38-meeting-pack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5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3D73"/>
                </a:solidFill>
                <a:latin typeface="BIZ UDPGothic"/>
              </a:rPr>
              <a:t>経営会議に出す1枚の型(第37章)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0000" y="1050000"/>
          <a:ext cx="11200000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4800000"/>
                <a:gridCol w="4000000"/>
              </a:tblGrid>
              <a:tr h="600000"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見出し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書くこと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自社の記入欄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1. 現在地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事業フェーズ / 導入フェーズ S1〜S6 / 文化フェーズ C1〜C5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2. 前提とする道筋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A 加速 / B 漸進 / C 調整 / 決めない(選択権を買う)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3. 早期警戒指標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指標名・現在値・担当・確認の頻度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4. 次の一手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上げる軸と段階(1つだけ)・期限90日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5. 運営モデル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誰が取りまとめるか(SaaS/集中/ハブ&amp;スポーク/分散/製品組織)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6. 必要なものと層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人材・データ・統治・評価・費用 / 買う層 L1〜L9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7. 統治の最低限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ガイドライン・入力してよい情報・ID・承認の位置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8. 答えていない問い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BIZ UDPGothic"/>
                        </a:rPr>
                        <a:t>決めなかったこと・分からないこと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